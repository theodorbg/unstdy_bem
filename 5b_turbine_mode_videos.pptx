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2"/>
    <p:sldMasterId id="2147483678" r:id="rId13"/>
  </p:sldMasterIdLst>
  <p:notesMasterIdLst>
    <p:notesMasterId r:id="rId16"/>
  </p:notesMasterIdLst>
  <p:handoutMasterIdLst>
    <p:handoutMasterId r:id="rId17"/>
  </p:handoutMasterIdLst>
  <p:sldIdLst>
    <p:sldId id="333" r:id="rId14"/>
    <p:sldId id="334" r:id="rId15"/>
  </p:sldIdLst>
  <p:sldSz cx="12190413" cy="6858000"/>
  <p:notesSz cx="6858000" cy="9144000"/>
  <p:custDataLst>
    <p:tags r:id="rId18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F2F2"/>
    <a:srgbClr val="93806D"/>
    <a:srgbClr val="886A48"/>
    <a:srgbClr val="503E2A"/>
    <a:srgbClr val="148655"/>
    <a:srgbClr val="B0E6D5"/>
    <a:srgbClr val="D0F8E6"/>
    <a:srgbClr val="F8F8F8"/>
    <a:srgbClr val="008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yst layout 1 - Markering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0" autoAdjust="0"/>
    <p:restoredTop sz="95373" autoAdjust="0"/>
  </p:normalViewPr>
  <p:slideViewPr>
    <p:cSldViewPr showGuides="1">
      <p:cViewPr varScale="1">
        <p:scale>
          <a:sx n="117" d="100"/>
          <a:sy n="117" d="100"/>
        </p:scale>
        <p:origin x="504" y="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Master" Target="slideMasters/slideMaster2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1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5" Type="http://schemas.openxmlformats.org/officeDocument/2006/relationships/customXml" Target="../customXml/item5.xml"/><Relationship Id="rId15" Type="http://schemas.openxmlformats.org/officeDocument/2006/relationships/slide" Target="slides/slide2.xml"/><Relationship Id="rId10" Type="http://schemas.openxmlformats.org/officeDocument/2006/relationships/customXml" Target="../customXml/item10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rgbClr val="008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-14069"/>
            <a:ext cx="0" cy="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4602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  <a:endParaRPr lang="en-GB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  <a:endParaRPr lang="en-GB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-3600"/>
            <a:ext cx="12193200" cy="68616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0873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/>
              <a:t>Click to edit Master title style</a:t>
            </a:r>
            <a:endParaRPr lang="da-DK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 dirty="0"/>
              <a:t>Click to edit Master subtitle style</a:t>
            </a:r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89946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/>
              <a:t>Click to edit Master title style</a:t>
            </a:r>
            <a:endParaRPr lang="da-DK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/>
              <a:t>Click to edit Master subtitle style</a:t>
            </a:r>
            <a:endParaRPr lang="da-DK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6756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75519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1117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da-DK"/>
              <a:t>Click to edit Master title style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08229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da-DK"/>
              <a:t>Click to edit Master title style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  <a:p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51122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>
          <p15:clr>
            <a:srgbClr val="F26B43"/>
          </p15:clr>
        </p15:guide>
        <p15:guide id="2" pos="5247">
          <p15:clr>
            <a:srgbClr val="F26B43"/>
          </p15:clr>
        </p15:guide>
        <p15:guide id="3" pos="1117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da-DK"/>
              <a:t>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da-DK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  <a:p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2248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2660">
          <p15:clr>
            <a:srgbClr val="F26B43"/>
          </p15:clr>
        </p15:guide>
        <p15:guide id="3" pos="2335">
          <p15:clr>
            <a:srgbClr val="F26B43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da-DK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da-DK" dirty="0"/>
              <a:t>Click to add title one line</a:t>
            </a:r>
            <a:endParaRPr lang="da-DK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endParaRPr lang="da-DK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da-DK" dirty="0"/>
              <a:t>Click to add title one line</a:t>
            </a:r>
            <a:endParaRPr lang="da-DK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endParaRPr lang="da-DK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Click the placeholder and paste image via Skyfish icon</a:t>
            </a:r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70102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7912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4941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1951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FD08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a-DK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86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0873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a5b81585-9d7b-477c-83d2-a00daec75025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Wind Energy</a:t>
            </a:r>
          </a:p>
        </p:txBody>
      </p:sp>
      <p:sp>
        <p:nvSpPr>
          <p:cNvPr id="5" name="date" descr="{&quot;templafy&quot;:{&quot;id&quot;:&quot;b0061c55-c395-4a8d-a0eb-5b48ed11c2a6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46320 - Week 8</a:t>
            </a:r>
          </a:p>
        </p:txBody>
      </p:sp>
      <p:sp>
        <p:nvSpPr>
          <p:cNvPr id="7" name="text" descr="{&quot;templafy&quot;:{&quot;id&quot;:&quot;dabd038d-fc80-4f7a-9347-fb691d21a9fa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>
              <a:lumMod val="85000"/>
              <a:lumOff val="15000"/>
            </a:schemeClr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>
              <a:lumMod val="85000"/>
              <a:lumOff val="15000"/>
            </a:schemeClr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>
              <a:lumMod val="85000"/>
              <a:lumOff val="15000"/>
            </a:schemeClr>
          </a:solidFill>
          <a:latin typeface="Roboto" panose="02000000000000000000" pitchFamily="2" charset="0"/>
          <a:ea typeface="Roboto" panose="02000000000000000000" pitchFamily="2" charset="0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>
              <a:lumMod val="85000"/>
              <a:lumOff val="15000"/>
            </a:schemeClr>
          </a:solidFill>
          <a:latin typeface="Roboto" panose="02000000000000000000" pitchFamily="2" charset="0"/>
          <a:ea typeface="Roboto" panose="02000000000000000000" pitchFamily="2" charset="0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>
              <a:lumMod val="85000"/>
              <a:lumOff val="15000"/>
            </a:schemeClr>
          </a:solidFill>
          <a:latin typeface="Roboto" panose="02000000000000000000" pitchFamily="2" charset="0"/>
          <a:ea typeface="Roboto" panose="02000000000000000000" pitchFamily="2" charset="0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>
              <a:lumMod val="85000"/>
              <a:lumOff val="15000"/>
            </a:schemeClr>
          </a:solidFill>
          <a:latin typeface="Roboto" panose="02000000000000000000" pitchFamily="2" charset="0"/>
          <a:ea typeface="Roboto" panose="02000000000000000000" pitchFamily="2" charset="0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>
              <a:lumMod val="85000"/>
              <a:lumOff val="15000"/>
            </a:schemeClr>
          </a:solidFill>
          <a:latin typeface="Roboto" panose="02000000000000000000" pitchFamily="2" charset="0"/>
          <a:ea typeface="Roboto" panose="02000000000000000000" pitchFamily="2" charset="0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FD08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a-DK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/>
              <a:t>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endParaRPr lang="da-DK" dirty="0"/>
          </a:p>
        </p:txBody>
      </p:sp>
      <p:sp>
        <p:nvSpPr>
          <p:cNvPr id="113676" name="text" descr="{&quot;templafy&quot;:{&quot;id&quot;:&quot;1478b48b-58a6-4694-9b73-3593e08dd0de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Danmarks Tekniske Universitet</a:t>
            </a:r>
          </a:p>
        </p:txBody>
      </p:sp>
      <p:sp>
        <p:nvSpPr>
          <p:cNvPr id="5" name="date" descr="{&quot;templafy&quot;:{&quot;id&quot;:&quot;a20a7ca0-91a9-4908-a929-770486b3be8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11. august 2020</a:t>
            </a:r>
          </a:p>
        </p:txBody>
      </p:sp>
      <p:sp>
        <p:nvSpPr>
          <p:cNvPr id="7" name="text" descr="{&quot;templafy&quot;:{&quot;id&quot;:&quot;6bd1256b-7205-49cc-ba43-051dbf3dc160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27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>
          <p15:clr>
            <a:srgbClr val="F26B43"/>
          </p15:clr>
        </p15:guide>
        <p15:guide id="4" orient="horz" pos="881">
          <p15:clr>
            <a:srgbClr val="F26B43"/>
          </p15:clr>
        </p15:guide>
        <p15:guide id="5" orient="horz" pos="1074">
          <p15:clr>
            <a:srgbClr val="F26B43"/>
          </p15:clr>
        </p15:guide>
        <p15:guide id="6" orient="horz" pos="39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slideLayout" Target="../slideLayouts/slideLayout8.xml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video" Target="../media/media6.mp4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microsoft.com/office/2007/relationships/media" Target="../media/media6.mp4"/><Relationship Id="rId5" Type="http://schemas.microsoft.com/office/2007/relationships/media" Target="../media/media3.mp4"/><Relationship Id="rId15" Type="http://schemas.openxmlformats.org/officeDocument/2006/relationships/image" Target="../media/image2.png"/><Relationship Id="rId10" Type="http://schemas.openxmlformats.org/officeDocument/2006/relationships/video" Target="../media/media5.mp4"/><Relationship Id="rId4" Type="http://schemas.openxmlformats.org/officeDocument/2006/relationships/video" Target="../media/media2.mp4"/><Relationship Id="rId9" Type="http://schemas.microsoft.com/office/2007/relationships/media" Target="../media/media5.mp4"/><Relationship Id="rId1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ideo" Target="../media/media10.mp4"/><Relationship Id="rId13" Type="http://schemas.microsoft.com/office/2007/relationships/media" Target="../media/media13.mp4"/><Relationship Id="rId18" Type="http://schemas.openxmlformats.org/officeDocument/2006/relationships/image" Target="../media/image2.png"/><Relationship Id="rId3" Type="http://schemas.microsoft.com/office/2007/relationships/media" Target="../media/media8.mp4"/><Relationship Id="rId7" Type="http://schemas.microsoft.com/office/2007/relationships/media" Target="../media/media10.mp4"/><Relationship Id="rId12" Type="http://schemas.openxmlformats.org/officeDocument/2006/relationships/video" Target="../media/media12.mp4"/><Relationship Id="rId17" Type="http://schemas.openxmlformats.org/officeDocument/2006/relationships/slideLayout" Target="../slideLayouts/slideLayout8.xml"/><Relationship Id="rId2" Type="http://schemas.openxmlformats.org/officeDocument/2006/relationships/video" Target="../media/media7.mp4"/><Relationship Id="rId16" Type="http://schemas.openxmlformats.org/officeDocument/2006/relationships/video" Target="../media/media14.mp4"/><Relationship Id="rId1" Type="http://schemas.microsoft.com/office/2007/relationships/media" Target="../media/media7.mp4"/><Relationship Id="rId6" Type="http://schemas.openxmlformats.org/officeDocument/2006/relationships/video" Target="../media/media9.mp4"/><Relationship Id="rId11" Type="http://schemas.microsoft.com/office/2007/relationships/media" Target="../media/media12.mp4"/><Relationship Id="rId5" Type="http://schemas.microsoft.com/office/2007/relationships/media" Target="../media/media9.mp4"/><Relationship Id="rId15" Type="http://schemas.microsoft.com/office/2007/relationships/media" Target="../media/media14.mp4"/><Relationship Id="rId10" Type="http://schemas.openxmlformats.org/officeDocument/2006/relationships/video" Target="../media/media11.mp4"/><Relationship Id="rId19" Type="http://schemas.openxmlformats.org/officeDocument/2006/relationships/image" Target="../media/image1.png"/><Relationship Id="rId4" Type="http://schemas.openxmlformats.org/officeDocument/2006/relationships/video" Target="../media/media8.mp4"/><Relationship Id="rId9" Type="http://schemas.microsoft.com/office/2007/relationships/media" Target="../media/media11.mp4"/><Relationship Id="rId14" Type="http://schemas.openxmlformats.org/officeDocument/2006/relationships/video" Target="../media/media13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turbine standstill modes.</a:t>
            </a:r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pic>
        <p:nvPicPr>
          <p:cNvPr id="7" name="structural_turbine_mode_1.av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 cstate="print"/>
          <a:stretch>
            <a:fillRect/>
          </a:stretch>
        </p:blipFill>
        <p:spPr>
          <a:xfrm>
            <a:off x="1531895" y="1412776"/>
            <a:ext cx="1440000" cy="2160000"/>
          </a:xfrm>
          <a:prstGeom prst="rect">
            <a:avLst/>
          </a:prstGeom>
        </p:spPr>
      </p:pic>
      <p:pic>
        <p:nvPicPr>
          <p:cNvPr id="9" name="structural_turbine_mode_3.avi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 cstate="print"/>
          <a:stretch>
            <a:fillRect/>
          </a:stretch>
        </p:blipFill>
        <p:spPr>
          <a:xfrm>
            <a:off x="4700247" y="1412776"/>
            <a:ext cx="1440000" cy="2160000"/>
          </a:xfrm>
          <a:prstGeom prst="rect">
            <a:avLst/>
          </a:prstGeom>
        </p:spPr>
      </p:pic>
      <p:pic>
        <p:nvPicPr>
          <p:cNvPr id="10" name="structural_turbine_mode_4.avi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 cstate="print"/>
          <a:stretch>
            <a:fillRect/>
          </a:stretch>
        </p:blipFill>
        <p:spPr>
          <a:xfrm>
            <a:off x="6284423" y="1412776"/>
            <a:ext cx="1440000" cy="2160000"/>
          </a:xfrm>
          <a:prstGeom prst="rect">
            <a:avLst/>
          </a:prstGeom>
        </p:spPr>
      </p:pic>
      <p:pic>
        <p:nvPicPr>
          <p:cNvPr id="11" name="structural_turbine_mode_5.avi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 cstate="print"/>
          <a:stretch>
            <a:fillRect/>
          </a:stretch>
        </p:blipFill>
        <p:spPr>
          <a:xfrm>
            <a:off x="1531895" y="4077072"/>
            <a:ext cx="1440000" cy="2160000"/>
          </a:xfrm>
          <a:prstGeom prst="rect">
            <a:avLst/>
          </a:prstGeom>
        </p:spPr>
      </p:pic>
      <p:pic>
        <p:nvPicPr>
          <p:cNvPr id="12" name="structural_turbine_mode_6.avi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 cstate="print"/>
          <a:stretch>
            <a:fillRect/>
          </a:stretch>
        </p:blipFill>
        <p:spPr>
          <a:xfrm>
            <a:off x="3116071" y="4077072"/>
            <a:ext cx="1440000" cy="2160000"/>
          </a:xfrm>
          <a:prstGeom prst="rect">
            <a:avLst/>
          </a:prstGeom>
        </p:spPr>
      </p:pic>
      <p:pic>
        <p:nvPicPr>
          <p:cNvPr id="13" name="structural_turbine_mode_7.avi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 cstate="print"/>
          <a:stretch>
            <a:fillRect/>
          </a:stretch>
        </p:blipFill>
        <p:spPr>
          <a:xfrm>
            <a:off x="4700247" y="4077072"/>
            <a:ext cx="1440000" cy="2160000"/>
          </a:xfrm>
          <a:prstGeom prst="rect">
            <a:avLst/>
          </a:prstGeom>
        </p:spPr>
      </p:pic>
      <p:sp>
        <p:nvSpPr>
          <p:cNvPr id="14" name="TextBox 28"/>
          <p:cNvSpPr txBox="1"/>
          <p:nvPr/>
        </p:nvSpPr>
        <p:spPr>
          <a:xfrm>
            <a:off x="1459887" y="1196752"/>
            <a:ext cx="1556305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r>
              <a:rPr lang="da-DK" sz="1000" b="1" dirty="0">
                <a:solidFill>
                  <a:srgbClr val="C00000"/>
                </a:solidFill>
              </a:rPr>
              <a:t>(1st fore-</a:t>
            </a:r>
            <a:r>
              <a:rPr lang="da-DK" sz="1000" b="1" dirty="0" err="1">
                <a:solidFill>
                  <a:srgbClr val="C00000"/>
                </a:solidFill>
              </a:rPr>
              <a:t>aft</a:t>
            </a:r>
            <a:r>
              <a:rPr lang="da-DK" sz="1000" b="1" dirty="0">
                <a:solidFill>
                  <a:srgbClr val="C00000"/>
                </a:solidFill>
              </a:rPr>
              <a:t> </a:t>
            </a:r>
            <a:r>
              <a:rPr lang="da-DK" sz="1000" b="1" dirty="0" err="1">
                <a:solidFill>
                  <a:srgbClr val="C00000"/>
                </a:solidFill>
              </a:rPr>
              <a:t>twr</a:t>
            </a:r>
            <a:r>
              <a:rPr lang="da-DK" sz="1000" b="1" dirty="0">
                <a:solidFill>
                  <a:srgbClr val="C00000"/>
                </a:solidFill>
              </a:rPr>
              <a:t>)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6" name="TextBox 30"/>
          <p:cNvSpPr txBox="1"/>
          <p:nvPr/>
        </p:nvSpPr>
        <p:spPr>
          <a:xfrm>
            <a:off x="4988279" y="1196752"/>
            <a:ext cx="911625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r>
              <a:rPr lang="da-DK" sz="1000" b="1" dirty="0">
                <a:solidFill>
                  <a:srgbClr val="C00000"/>
                </a:solidFill>
              </a:rPr>
              <a:t>1st </a:t>
            </a:r>
            <a:r>
              <a:rPr lang="da-DK" sz="1000" b="1" dirty="0" err="1">
                <a:solidFill>
                  <a:srgbClr val="C00000"/>
                </a:solidFill>
              </a:rPr>
              <a:t>yaw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7" name="TextBox 31"/>
          <p:cNvSpPr txBox="1"/>
          <p:nvPr/>
        </p:nvSpPr>
        <p:spPr>
          <a:xfrm>
            <a:off x="6572295" y="1196752"/>
            <a:ext cx="783141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r>
              <a:rPr lang="da-DK" sz="1000" b="1" dirty="0">
                <a:solidFill>
                  <a:srgbClr val="C00000"/>
                </a:solidFill>
              </a:rPr>
              <a:t>1st tilt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8" name="TextBox 32"/>
          <p:cNvSpPr txBox="1"/>
          <p:nvPr/>
        </p:nvSpPr>
        <p:spPr>
          <a:xfrm>
            <a:off x="1531895" y="3861048"/>
            <a:ext cx="1423313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r>
              <a:rPr lang="da-DK" sz="1000" b="1" dirty="0">
                <a:solidFill>
                  <a:srgbClr val="C00000"/>
                </a:solidFill>
              </a:rPr>
              <a:t>1st </a:t>
            </a:r>
            <a:r>
              <a:rPr lang="da-DK" sz="1000" b="1" dirty="0" err="1">
                <a:solidFill>
                  <a:srgbClr val="C00000"/>
                </a:solidFill>
              </a:rPr>
              <a:t>sym</a:t>
            </a:r>
            <a:r>
              <a:rPr lang="da-DK" sz="1000" b="1" dirty="0">
                <a:solidFill>
                  <a:srgbClr val="C00000"/>
                </a:solidFill>
              </a:rPr>
              <a:t>. flap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9" name="TextBox 33"/>
          <p:cNvSpPr txBox="1"/>
          <p:nvPr/>
        </p:nvSpPr>
        <p:spPr>
          <a:xfrm>
            <a:off x="3103491" y="3861048"/>
            <a:ext cx="1524748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r>
              <a:rPr lang="da-DK" sz="1000" b="1" dirty="0">
                <a:solidFill>
                  <a:srgbClr val="C00000"/>
                </a:solidFill>
              </a:rPr>
              <a:t>1st </a:t>
            </a:r>
            <a:r>
              <a:rPr lang="da-DK" sz="1000" b="1" dirty="0" err="1">
                <a:solidFill>
                  <a:srgbClr val="C00000"/>
                </a:solidFill>
              </a:rPr>
              <a:t>vert</a:t>
            </a:r>
            <a:r>
              <a:rPr lang="da-DK" sz="1000" b="1" dirty="0">
                <a:solidFill>
                  <a:srgbClr val="C00000"/>
                </a:solidFill>
              </a:rPr>
              <a:t>. </a:t>
            </a:r>
            <a:r>
              <a:rPr lang="da-DK" sz="1000" b="1" dirty="0" err="1">
                <a:solidFill>
                  <a:srgbClr val="C00000"/>
                </a:solidFill>
              </a:rPr>
              <a:t>edge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20" name="TextBox 34"/>
          <p:cNvSpPr txBox="1"/>
          <p:nvPr/>
        </p:nvSpPr>
        <p:spPr>
          <a:xfrm>
            <a:off x="4628239" y="3861048"/>
            <a:ext cx="1628437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r>
              <a:rPr lang="da-DK" sz="1000" b="1" dirty="0">
                <a:solidFill>
                  <a:srgbClr val="C00000"/>
                </a:solidFill>
              </a:rPr>
              <a:t>1st </a:t>
            </a:r>
            <a:r>
              <a:rPr lang="da-DK" sz="1000" b="1" dirty="0" err="1">
                <a:solidFill>
                  <a:srgbClr val="C00000"/>
                </a:solidFill>
              </a:rPr>
              <a:t>horiz</a:t>
            </a:r>
            <a:r>
              <a:rPr lang="da-DK" sz="1000" b="1" dirty="0">
                <a:solidFill>
                  <a:srgbClr val="C00000"/>
                </a:solidFill>
              </a:rPr>
              <a:t>. </a:t>
            </a:r>
            <a:r>
              <a:rPr lang="da-DK" sz="1000" b="1" dirty="0" err="1">
                <a:solidFill>
                  <a:srgbClr val="C00000"/>
                </a:solidFill>
              </a:rPr>
              <a:t>edge</a:t>
            </a:r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958725" y="1484784"/>
            <a:ext cx="2672985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Oval 37"/>
          <p:cNvSpPr/>
          <p:nvPr/>
        </p:nvSpPr>
        <p:spPr>
          <a:xfrm>
            <a:off x="8432248" y="2178823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40"/>
          <p:cNvSpPr/>
          <p:nvPr/>
        </p:nvSpPr>
        <p:spPr>
          <a:xfrm>
            <a:off x="8440823" y="3658171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41"/>
          <p:cNvSpPr/>
          <p:nvPr/>
        </p:nvSpPr>
        <p:spPr>
          <a:xfrm>
            <a:off x="8425193" y="4582744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42"/>
          <p:cNvSpPr/>
          <p:nvPr/>
        </p:nvSpPr>
        <p:spPr>
          <a:xfrm>
            <a:off x="8433008" y="4662206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43"/>
          <p:cNvSpPr/>
          <p:nvPr/>
        </p:nvSpPr>
        <p:spPr>
          <a:xfrm>
            <a:off x="8425193" y="4736988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44"/>
          <p:cNvSpPr/>
          <p:nvPr/>
        </p:nvSpPr>
        <p:spPr>
          <a:xfrm>
            <a:off x="8440823" y="3701176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45"/>
          <p:cNvSpPr/>
          <p:nvPr/>
        </p:nvSpPr>
        <p:spPr>
          <a:xfrm>
            <a:off x="8433008" y="5475405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46"/>
          <p:cNvSpPr/>
          <p:nvPr/>
        </p:nvSpPr>
        <p:spPr>
          <a:xfrm>
            <a:off x="8425193" y="5448295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kstfelt 31"/>
          <p:cNvSpPr txBox="1"/>
          <p:nvPr/>
        </p:nvSpPr>
        <p:spPr>
          <a:xfrm>
            <a:off x="10141136" y="217075"/>
            <a:ext cx="177933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432"/>
              </a:spcBef>
            </a:pPr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</a:rPr>
              <a:t>Slide credit: Hansen</a:t>
            </a:r>
          </a:p>
        </p:txBody>
      </p:sp>
    </p:spTree>
    <p:extLst>
      <p:ext uri="{BB962C8B-B14F-4D97-AF65-F5344CB8AC3E}">
        <p14:creationId xmlns:p14="http://schemas.microsoft.com/office/powerpoint/2010/main" val="283469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9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399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399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399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399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399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2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video>
            <p:video>
              <p:cMediaNode>
                <p:cTn id="28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video>
            <p:video>
              <p:cMediaNode>
                <p:cTn id="29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video>
            <p:video>
              <p:cMediaNode>
                <p:cTn id="30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video>
            <p:video>
              <p:cMediaNode>
                <p:cTn id="31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video>
            <p:video>
              <p:cMediaNode>
                <p:cTn id="32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turbine operating modes.</a:t>
            </a:r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Tekstfelt 4"/>
          <p:cNvSpPr txBox="1"/>
          <p:nvPr/>
        </p:nvSpPr>
        <p:spPr>
          <a:xfrm>
            <a:off x="10141136" y="217075"/>
            <a:ext cx="177933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Bef>
                <a:spcPts val="432"/>
              </a:spcBef>
            </a:pPr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</a:rPr>
              <a:t>Slide credit: Hansen</a:t>
            </a:r>
          </a:p>
        </p:txBody>
      </p:sp>
      <p:sp>
        <p:nvSpPr>
          <p:cNvPr id="6" name="TextBox 28"/>
          <p:cNvSpPr txBox="1"/>
          <p:nvPr/>
        </p:nvSpPr>
        <p:spPr>
          <a:xfrm>
            <a:off x="4156319" y="1340768"/>
            <a:ext cx="1745653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pPr algn="ctr"/>
            <a:r>
              <a:rPr lang="da-DK" sz="1000" b="1" dirty="0">
                <a:solidFill>
                  <a:srgbClr val="C00000"/>
                </a:solidFill>
              </a:rPr>
              <a:t>1st fore-</a:t>
            </a:r>
            <a:r>
              <a:rPr lang="da-DK" sz="1000" b="1" dirty="0" err="1">
                <a:solidFill>
                  <a:srgbClr val="C00000"/>
                </a:solidFill>
              </a:rPr>
              <a:t>aft</a:t>
            </a:r>
            <a:r>
              <a:rPr lang="da-DK" sz="1000" b="1" dirty="0">
                <a:solidFill>
                  <a:srgbClr val="C00000"/>
                </a:solidFill>
              </a:rPr>
              <a:t> </a:t>
            </a:r>
            <a:r>
              <a:rPr lang="da-DK" sz="1000" b="1" dirty="0" err="1">
                <a:solidFill>
                  <a:srgbClr val="C00000"/>
                </a:solidFill>
              </a:rPr>
              <a:t>twr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7" name="TextBox 29"/>
          <p:cNvSpPr txBox="1"/>
          <p:nvPr/>
        </p:nvSpPr>
        <p:spPr>
          <a:xfrm>
            <a:off x="5657628" y="1340768"/>
            <a:ext cx="1883154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pPr algn="ctr"/>
            <a:r>
              <a:rPr lang="da-DK" sz="1000" b="1" dirty="0">
                <a:solidFill>
                  <a:srgbClr val="C00000"/>
                </a:solidFill>
              </a:rPr>
              <a:t>1st side-side </a:t>
            </a:r>
            <a:r>
              <a:rPr lang="da-DK" sz="1000" b="1" dirty="0" err="1">
                <a:solidFill>
                  <a:srgbClr val="C00000"/>
                </a:solidFill>
              </a:rPr>
              <a:t>twr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8" name="TextBox 30"/>
          <p:cNvSpPr txBox="1"/>
          <p:nvPr/>
        </p:nvSpPr>
        <p:spPr>
          <a:xfrm>
            <a:off x="7469594" y="1340768"/>
            <a:ext cx="1283557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pPr algn="ctr"/>
            <a:r>
              <a:rPr lang="da-DK" sz="1000" b="1" dirty="0">
                <a:solidFill>
                  <a:srgbClr val="C00000"/>
                </a:solidFill>
              </a:rPr>
              <a:t>1st BW flap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9" name="TextBox 31"/>
          <p:cNvSpPr txBox="1"/>
          <p:nvPr/>
        </p:nvSpPr>
        <p:spPr>
          <a:xfrm>
            <a:off x="9077277" y="1340768"/>
            <a:ext cx="1236221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pPr algn="ctr"/>
            <a:r>
              <a:rPr lang="da-DK" sz="1000" b="1" dirty="0">
                <a:solidFill>
                  <a:srgbClr val="C00000"/>
                </a:solidFill>
              </a:rPr>
              <a:t>1 </a:t>
            </a:r>
            <a:r>
              <a:rPr lang="da-DK" sz="1000" b="1" dirty="0" err="1">
                <a:solidFill>
                  <a:srgbClr val="C00000"/>
                </a:solidFill>
              </a:rPr>
              <a:t>sym</a:t>
            </a:r>
            <a:r>
              <a:rPr lang="da-DK" sz="1000" b="1" dirty="0">
                <a:solidFill>
                  <a:srgbClr val="C00000"/>
                </a:solidFill>
              </a:rPr>
              <a:t>. flap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0" name="TextBox 32"/>
          <p:cNvSpPr txBox="1"/>
          <p:nvPr/>
        </p:nvSpPr>
        <p:spPr>
          <a:xfrm>
            <a:off x="4333981" y="4005064"/>
            <a:ext cx="1263270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pPr algn="ctr"/>
            <a:r>
              <a:rPr lang="da-DK" sz="1000" b="1" dirty="0">
                <a:solidFill>
                  <a:srgbClr val="C00000"/>
                </a:solidFill>
              </a:rPr>
              <a:t>1st FW flap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1" name="TextBox 33"/>
          <p:cNvSpPr txBox="1"/>
          <p:nvPr/>
        </p:nvSpPr>
        <p:spPr>
          <a:xfrm>
            <a:off x="5903327" y="4005064"/>
            <a:ext cx="1391755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pPr algn="ctr"/>
            <a:r>
              <a:rPr lang="da-DK" sz="1000" b="1" dirty="0">
                <a:solidFill>
                  <a:srgbClr val="C00000"/>
                </a:solidFill>
              </a:rPr>
              <a:t>1st BW </a:t>
            </a:r>
            <a:r>
              <a:rPr lang="da-DK" sz="1000" b="1" dirty="0" err="1">
                <a:solidFill>
                  <a:srgbClr val="C00000"/>
                </a:solidFill>
              </a:rPr>
              <a:t>edge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2" name="TextBox 34"/>
          <p:cNvSpPr txBox="1"/>
          <p:nvPr/>
        </p:nvSpPr>
        <p:spPr>
          <a:xfrm>
            <a:off x="7497647" y="4005064"/>
            <a:ext cx="1371468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pPr algn="ctr"/>
            <a:r>
              <a:rPr lang="da-DK" sz="1000" b="1" dirty="0">
                <a:solidFill>
                  <a:srgbClr val="C00000"/>
                </a:solidFill>
              </a:rPr>
              <a:t>1st FW </a:t>
            </a:r>
            <a:r>
              <a:rPr lang="da-DK" sz="1000" b="1" dirty="0" err="1">
                <a:solidFill>
                  <a:srgbClr val="C00000"/>
                </a:solidFill>
              </a:rPr>
              <a:t>edge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3" name="TextBox 35"/>
          <p:cNvSpPr txBox="1"/>
          <p:nvPr/>
        </p:nvSpPr>
        <p:spPr>
          <a:xfrm>
            <a:off x="9026560" y="4005064"/>
            <a:ext cx="1493191" cy="216396"/>
          </a:xfrm>
          <a:prstGeom prst="ellipse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43200" tIns="0" rIns="43200" bIns="0" rtlCol="0">
            <a:spAutoFit/>
          </a:bodyPr>
          <a:lstStyle/>
          <a:p>
            <a:pPr algn="ctr"/>
            <a:r>
              <a:rPr lang="da-DK" sz="1000" b="1" dirty="0">
                <a:solidFill>
                  <a:srgbClr val="C00000"/>
                </a:solidFill>
              </a:rPr>
              <a:t>1st </a:t>
            </a:r>
            <a:r>
              <a:rPr lang="da-DK" sz="1000" b="1" dirty="0" err="1">
                <a:solidFill>
                  <a:srgbClr val="C00000"/>
                </a:solidFill>
              </a:rPr>
              <a:t>drivetrain</a:t>
            </a:r>
            <a:endParaRPr lang="en-US" sz="1000" b="1" dirty="0">
              <a:solidFill>
                <a:srgbClr val="C00000"/>
              </a:solidFill>
            </a:endParaRPr>
          </a:p>
        </p:txBody>
      </p:sp>
      <p:pic>
        <p:nvPicPr>
          <p:cNvPr id="14" name="Picture 19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1414686" y="1556792"/>
            <a:ext cx="2672688" cy="46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Oval 47"/>
          <p:cNvSpPr/>
          <p:nvPr/>
        </p:nvSpPr>
        <p:spPr>
          <a:xfrm>
            <a:off x="3753167" y="2227089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48"/>
          <p:cNvSpPr/>
          <p:nvPr/>
        </p:nvSpPr>
        <p:spPr>
          <a:xfrm>
            <a:off x="3758815" y="4181287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49"/>
          <p:cNvSpPr/>
          <p:nvPr/>
        </p:nvSpPr>
        <p:spPr>
          <a:xfrm>
            <a:off x="3758425" y="4214712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50"/>
          <p:cNvSpPr/>
          <p:nvPr/>
        </p:nvSpPr>
        <p:spPr>
          <a:xfrm>
            <a:off x="3754428" y="4542206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51"/>
          <p:cNvSpPr/>
          <p:nvPr/>
        </p:nvSpPr>
        <p:spPr>
          <a:xfrm>
            <a:off x="3758425" y="5109624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52"/>
          <p:cNvSpPr/>
          <p:nvPr/>
        </p:nvSpPr>
        <p:spPr>
          <a:xfrm>
            <a:off x="3751195" y="3275220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53"/>
          <p:cNvSpPr/>
          <p:nvPr/>
        </p:nvSpPr>
        <p:spPr>
          <a:xfrm>
            <a:off x="3758620" y="5547061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54"/>
          <p:cNvSpPr/>
          <p:nvPr/>
        </p:nvSpPr>
        <p:spPr>
          <a:xfrm>
            <a:off x="3758425" y="5526807"/>
            <a:ext cx="135224" cy="140055"/>
          </a:xfrm>
          <a:prstGeom prst="ellipse">
            <a:avLst/>
          </a:prstGeom>
          <a:noFill/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structural_turbine_mode_1.av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 cstate="print"/>
          <a:stretch>
            <a:fillRect/>
          </a:stretch>
        </p:blipFill>
        <p:spPr>
          <a:xfrm>
            <a:off x="4295006" y="1556792"/>
            <a:ext cx="1440000" cy="2160000"/>
          </a:xfrm>
          <a:prstGeom prst="rect">
            <a:avLst/>
          </a:prstGeom>
        </p:spPr>
      </p:pic>
      <p:pic>
        <p:nvPicPr>
          <p:cNvPr id="24" name="structural_turbine_mode_2.avi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 cstate="print"/>
          <a:stretch>
            <a:fillRect/>
          </a:stretch>
        </p:blipFill>
        <p:spPr>
          <a:xfrm>
            <a:off x="5879182" y="1556792"/>
            <a:ext cx="1440000" cy="2160000"/>
          </a:xfrm>
          <a:prstGeom prst="rect">
            <a:avLst/>
          </a:prstGeom>
        </p:spPr>
      </p:pic>
      <p:pic>
        <p:nvPicPr>
          <p:cNvPr id="25" name="structural_turbine_mode_3.avi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 cstate="print"/>
          <a:stretch>
            <a:fillRect/>
          </a:stretch>
        </p:blipFill>
        <p:spPr>
          <a:xfrm>
            <a:off x="7463358" y="1556792"/>
            <a:ext cx="1440000" cy="2160000"/>
          </a:xfrm>
          <a:prstGeom prst="rect">
            <a:avLst/>
          </a:prstGeom>
        </p:spPr>
      </p:pic>
      <p:pic>
        <p:nvPicPr>
          <p:cNvPr id="26" name="structural_turbine_mode_4.avi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 cstate="print"/>
          <a:stretch>
            <a:fillRect/>
          </a:stretch>
        </p:blipFill>
        <p:spPr>
          <a:xfrm>
            <a:off x="9047534" y="1556792"/>
            <a:ext cx="1440000" cy="2160000"/>
          </a:xfrm>
          <a:prstGeom prst="rect">
            <a:avLst/>
          </a:prstGeom>
        </p:spPr>
      </p:pic>
      <p:pic>
        <p:nvPicPr>
          <p:cNvPr id="27" name="structural_turbine_mode_5.avi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 cstate="print"/>
          <a:stretch>
            <a:fillRect/>
          </a:stretch>
        </p:blipFill>
        <p:spPr>
          <a:xfrm>
            <a:off x="4295006" y="4221088"/>
            <a:ext cx="1440000" cy="2160000"/>
          </a:xfrm>
          <a:prstGeom prst="rect">
            <a:avLst/>
          </a:prstGeom>
        </p:spPr>
      </p:pic>
      <p:pic>
        <p:nvPicPr>
          <p:cNvPr id="28" name="structural_turbine_mode_6.avi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9" cstate="print"/>
          <a:stretch>
            <a:fillRect/>
          </a:stretch>
        </p:blipFill>
        <p:spPr>
          <a:xfrm>
            <a:off x="5879182" y="4221088"/>
            <a:ext cx="1440000" cy="2160000"/>
          </a:xfrm>
          <a:prstGeom prst="rect">
            <a:avLst/>
          </a:prstGeom>
        </p:spPr>
      </p:pic>
      <p:pic>
        <p:nvPicPr>
          <p:cNvPr id="29" name="structural_turbine_mode_7.avi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9" cstate="print"/>
          <a:stretch>
            <a:fillRect/>
          </a:stretch>
        </p:blipFill>
        <p:spPr>
          <a:xfrm>
            <a:off x="7463358" y="4221088"/>
            <a:ext cx="1440000" cy="2160000"/>
          </a:xfrm>
          <a:prstGeom prst="rect">
            <a:avLst/>
          </a:prstGeom>
        </p:spPr>
      </p:pic>
      <p:pic>
        <p:nvPicPr>
          <p:cNvPr id="30" name="structural_turbine_mode_9.avi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9" cstate="print"/>
          <a:stretch>
            <a:fillRect/>
          </a:stretch>
        </p:blipFill>
        <p:spPr>
          <a:xfrm>
            <a:off x="9047534" y="4221088"/>
            <a:ext cx="144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2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99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3999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3999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3999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39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3999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23999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23999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35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video>
            <p:video>
              <p:cMediaNode>
                <p:cTn id="36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video>
            <p:video>
              <p:cMediaNode>
                <p:cTn id="3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video>
            <p:video>
              <p:cMediaNode>
                <p:cTn id="38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video>
            <p:video>
              <p:cMediaNode>
                <p:cTn id="39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video>
            <p:video>
              <p:cMediaNode>
                <p:cTn id="40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video>
            <p:video>
              <p:cMediaNode>
                <p:cTn id="41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video>
            <p:video>
              <p:cMediaNode>
                <p:cTn id="42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28575">
          <a:solidFill>
            <a:schemeClr val="accent1"/>
          </a:solidFill>
          <a:headEnd type="none" w="med" len="med"/>
          <a:tailEnd type="none" w="med" len="med"/>
        </a:ln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b="1" i="1" dirty="0" smtClean="0">
            <a:solidFill>
              <a:schemeClr val="accent1"/>
            </a:solidFill>
            <a:latin typeface="Roboto" panose="02000000000000000000" pitchFamily="2" charset="0"/>
            <a:ea typeface="Roboto" panose="02000000000000000000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ctr">
          <a:spcBef>
            <a:spcPts val="432"/>
          </a:spcBef>
          <a:defRPr i="1" dirty="0" smtClean="0">
            <a:latin typeface="Roboto" panose="02000000000000000000" pitchFamily="2" charset="0"/>
            <a:ea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 DTU Template.potx" id="{DCBB0D47-5BC6-435C-9126-D3D343B0B928}" vid="{2DC669D5-2566-4482-AB47-A5699F5A4350}"/>
    </a:ext>
  </a:extLst>
</a:theme>
</file>

<file path=ppt/theme/theme2.xml><?xml version="1.0" encoding="utf-8"?>
<a:theme xmlns:a="http://schemas.openxmlformats.org/drawingml/2006/main" name="1_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FD082"/>
        </a:solidFill>
        <a:ln w="9525" cap="flat" cmpd="sng" algn="ctr">
          <a:solidFill>
            <a:srgbClr val="1FD082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 DTU Template.potx" id="{DCBB0D47-5BC6-435C-9126-D3D343B0B928}" vid="{2DC669D5-2566-4482-AB47-A5699F5A4350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TemplafySlideTemplateConfiguration><![CDATA[{"elementsMetadata":[],"documentContentValidatorConfiguration":{"enableDocumentContentValidator":false,"documentContentValidatorVersion":0},"slideId":"636964369970985159","enableDocumentContentUpdater":true,"version":"1.2"}]]></TemplafySlideTemplateConfiguration>
</file>

<file path=customXml/item2.xml><?xml version="1.0" encoding="utf-8"?>
<TemplafyTemplateConfiguration><![CDATA[{"elementsMetadata":[{"type":"shape","id":"a5b81585-9d7b-477c-83d2-a00daec75025","elementConfiguration":{"binding":"UserProfile.Offices.Workarea_{{DocumentLanguage}}","disableUpdates":false,"type":"text"}},{"type":"shape","id":"b0061c55-c395-4a8d-a0eb-5b48ed11c2a6","elementConfiguration":{"binding":"Form.Date","format":"{{DateFormats.GeneralDate}}","disableUpdates":false,"type":"date"}},{"type":"shape","id":"dabd038d-fc80-4f7a-9347-fb691d21a9fa","elementConfiguration":{"binding":"Form.PresentationTitle","disableUpdates":false,"type":"text"}}],"transformationConfigurations":[{"language":"{{DocumentLanguage}}","disableUpdates":false,"type":"proofingLanguage"}],"templateName":"DTU Template 16_9 - Green","templateDescription":"","enableDocumentContentUpdater":true,"version":"1.2"}]]></TemplafyTemplateConfiguratio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emplafySlideTemplateConfiguration><![CDATA[{"elementsMetadata":[],"documentContentValidatorConfiguration":{"enableDocumentContentValidator":false,"documentContentValidatorVersion":0},"slideId":"636964369970985159","enableDocumentContentUpdater":true,"version":"1.2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{"name":"Date","value":"dObUPSd4QkOzivDPa2Gipw=="}]}]]></TemplafyFormConfiguration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8.xml><?xml version="1.0" encoding="utf-8"?>
<TemplafySlideTemplateConfiguration><![CDATA[{"elementsMetadata":[],"documentContentValidatorConfiguration":{"enableDocumentContentValidator":false,"documentContentValidatorVersion":0},"slideId":"636964369970345660","enableDocumentContentUpdater":true,"version":"1.2"}]]></TemplafySlideTemplateConfiguration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DD70D79269844AB52339BF35537CEE" ma:contentTypeVersion="13" ma:contentTypeDescription="Opret et nyt dokument." ma:contentTypeScope="" ma:versionID="adae411af33d13b99280f4122a2c12c4">
  <xsd:schema xmlns:xsd="http://www.w3.org/2001/XMLSchema" xmlns:xs="http://www.w3.org/2001/XMLSchema" xmlns:p="http://schemas.microsoft.com/office/2006/metadata/properties" xmlns:ns3="5fd9cd3c-8d4e-49e5-bc79-994adc47be3d" xmlns:ns4="39c6daa1-f296-47c4-a8b6-875559c3b9fc" targetNamespace="http://schemas.microsoft.com/office/2006/metadata/properties" ma:root="true" ma:fieldsID="2db7355a21e0fab72880b7e9fbe7068c" ns3:_="" ns4:_="">
    <xsd:import namespace="5fd9cd3c-8d4e-49e5-bc79-994adc47be3d"/>
    <xsd:import namespace="39c6daa1-f296-47c4-a8b6-875559c3b9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d9cd3c-8d4e-49e5-bc79-994adc47be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c6daa1-f296-47c4-a8b6-875559c3b9f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AB68ABBB-8CE7-4AFC-9F98-438C1775238D}">
  <ds:schemaRefs/>
</ds:datastoreItem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31E28CDF-7A5D-41A6-8F63-F547A71A507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A75AE2F-93CA-4972-86BB-29AB79ACCA1E}">
  <ds:schemaRefs/>
</ds:datastoreItem>
</file>

<file path=customXml/itemProps5.xml><?xml version="1.0" encoding="utf-8"?>
<ds:datastoreItem xmlns:ds="http://schemas.openxmlformats.org/officeDocument/2006/customXml" ds:itemID="{40BF509C-78FA-46F5-B5D7-7488E351E3B9}">
  <ds:schemaRefs/>
</ds:datastoreItem>
</file>

<file path=customXml/itemProps6.xml><?xml version="1.0" encoding="utf-8"?>
<ds:datastoreItem xmlns:ds="http://schemas.openxmlformats.org/officeDocument/2006/customXml" ds:itemID="{ABF51F55-B004-46D7-A679-5A180B2299D4}">
  <ds:schemaRefs/>
</ds:datastoreItem>
</file>

<file path=customXml/itemProps7.xml><?xml version="1.0" encoding="utf-8"?>
<ds:datastoreItem xmlns:ds="http://schemas.openxmlformats.org/officeDocument/2006/customXml" ds:itemID="{5B4E8F1C-A4F4-4BBD-AA29-4D18C3FDD375}">
  <ds:schemaRefs>
    <ds:schemaRef ds:uri="http://purl.org/dc/terms/"/>
    <ds:schemaRef ds:uri="5fd9cd3c-8d4e-49e5-bc79-994adc47be3d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39c6daa1-f296-47c4-a8b6-875559c3b9fc"/>
    <ds:schemaRef ds:uri="http://www.w3.org/XML/1998/namespace"/>
    <ds:schemaRef ds:uri="http://purl.org/dc/dcmitype/"/>
  </ds:schemaRefs>
</ds:datastoreItem>
</file>

<file path=customXml/itemProps8.xml><?xml version="1.0" encoding="utf-8"?>
<ds:datastoreItem xmlns:ds="http://schemas.openxmlformats.org/officeDocument/2006/customXml" ds:itemID="{5B7D4340-81E9-46AF-B909-48B68CC900EF}">
  <ds:schemaRefs/>
</ds:datastoreItem>
</file>

<file path=customXml/itemProps9.xml><?xml version="1.0" encoding="utf-8"?>
<ds:datastoreItem xmlns:ds="http://schemas.openxmlformats.org/officeDocument/2006/customXml" ds:itemID="{F69E0709-5D42-438A-9159-B863E80C9A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d9cd3c-8d4e-49e5-bc79-994adc47be3d"/>
    <ds:schemaRef ds:uri="39c6daa1-f296-47c4-a8b6-875559c3b9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0.xml><?xml version="1.0" encoding="utf-8"?>
<ds:datastoreItem xmlns:ds="http://schemas.openxmlformats.org/officeDocument/2006/customXml" ds:itemID="{2EC7F700-61ED-4B80-87B6-9BB5615B6931}">
  <ds:schemaRefs/>
</ds:datastoreItem>
</file>

<file path=customXml/itemProps11.xml><?xml version="1.0" encoding="utf-8"?>
<ds:datastoreItem xmlns:ds="http://schemas.openxmlformats.org/officeDocument/2006/customXml" ds:itemID="{BDF24F0A-B8FF-43DE-92DA-AC86FABA256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8473</TotalTime>
  <Words>65</Words>
  <Application>Microsoft Office PowerPoint</Application>
  <PresentationFormat>Custom</PresentationFormat>
  <Paragraphs>20</Paragraphs>
  <Slides>2</Slides>
  <Notes>0</Notes>
  <HiddenSlides>0</HiddenSlides>
  <MMClips>14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Roboto</vt:lpstr>
      <vt:lpstr>Verdana</vt:lpstr>
      <vt:lpstr>Blank</vt:lpstr>
      <vt:lpstr>1_Blank</vt:lpstr>
      <vt:lpstr>Wind turbine standstill modes.</vt:lpstr>
      <vt:lpstr>Wind turbine operating modes.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DTU</dc:creator>
  <cp:lastModifiedBy>Theodor Gilhøj</cp:lastModifiedBy>
  <cp:revision>679</cp:revision>
  <dcterms:created xsi:type="dcterms:W3CDTF">2017-07-31T08:31:56Z</dcterms:created>
  <dcterms:modified xsi:type="dcterms:W3CDTF">2026-05-18T16:41:07Z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2019-06-10T12:55:42.8581309Z</vt:lpwstr>
  </property>
  <property fmtid="{D5CDD505-2E9C-101B-9397-08002B2CF9AE}" pid="4" name="TemplafyTenantId">
    <vt:lpwstr>dtu</vt:lpwstr>
  </property>
  <property fmtid="{D5CDD505-2E9C-101B-9397-08002B2CF9AE}" pid="5" name="TemplafyTemplateId">
    <vt:lpwstr>636964369962321026</vt:lpwstr>
  </property>
  <property fmtid="{D5CDD505-2E9C-101B-9397-08002B2CF9AE}" pid="6" name="TemplafyUserProfileId">
    <vt:lpwstr>636470381058133489</vt:lpwstr>
  </property>
  <property fmtid="{D5CDD505-2E9C-101B-9397-08002B2CF9AE}" pid="7" name="TemplafyLanguageCode">
    <vt:lpwstr>en-GB</vt:lpwstr>
  </property>
  <property fmtid="{D5CDD505-2E9C-101B-9397-08002B2CF9AE}" pid="8" name="ContentTypeId">
    <vt:lpwstr>0x0101004FDD70D79269844AB52339BF35537CEE</vt:lpwstr>
  </property>
</Properties>
</file>